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28800425" cy="43200638"/>
  <p:notesSz cx="6858000" cy="9144000"/>
  <p:embeddedFontLst>
    <p:embeddedFont>
      <p:font typeface="Open Sans 1" panose="020B0604020202020204" charset="0"/>
      <p:regular r:id="rId3"/>
    </p:embeddedFont>
    <p:embeddedFont>
      <p:font typeface="Open Sans 1 Bold" panose="020B0604020202020204" charset="0"/>
      <p:regular r:id="rId4"/>
    </p:embeddedFont>
    <p:embeddedFont>
      <p:font typeface="Open Sans 2" panose="020B0604020202020204" charset="0"/>
      <p:regular r:id="rId5"/>
    </p:embeddedFont>
    <p:embeddedFont>
      <p:font typeface="Open Sans 2 Bold" panose="020B0604020202020204" charset="0"/>
      <p:regular r:id="rId6"/>
    </p:embeddedFont>
  </p:embeddedFontLst>
  <p:defaultTextStyle>
    <a:defPPr>
      <a:defRPr lang="en-US"/>
    </a:defPPr>
    <a:lvl1pPr marL="0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1pPr>
    <a:lvl2pPr marL="902193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2pPr>
    <a:lvl3pPr marL="1804386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3pPr>
    <a:lvl4pPr marL="2706578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4pPr>
    <a:lvl5pPr marL="3608771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5pPr>
    <a:lvl6pPr marL="4510964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6pPr>
    <a:lvl7pPr marL="5413157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7pPr>
    <a:lvl8pPr marL="6315349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8pPr>
    <a:lvl9pPr marL="7217542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66" userDrawn="1">
          <p15:clr>
            <a:srgbClr val="A4A3A4"/>
          </p15:clr>
        </p15:guide>
        <p15:guide id="2" pos="54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020125-8579-4905-8467-EB5596E207DC}" v="64" dt="2026-05-04T01:49:34.1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248" y="-468"/>
      </p:cViewPr>
      <p:guideLst>
        <p:guide orient="horz" pos="4366"/>
        <p:guide pos="54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microsoft.com/office/2015/10/relationships/revisionInfo" Target="revisionInfo.xml"/><Relationship Id="rId5" Type="http://schemas.openxmlformats.org/officeDocument/2006/relationships/font" Target="fonts/font3.fntdata"/><Relationship Id="rId10" Type="http://schemas.openxmlformats.org/officeDocument/2006/relationships/tableStyles" Target="tableStyles.xml"/><Relationship Id="rId4" Type="http://schemas.openxmlformats.org/officeDocument/2006/relationships/font" Target="fonts/font2.fntdata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6910" y="4305947"/>
            <a:ext cx="14811647" cy="29711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13820" y="7854662"/>
            <a:ext cx="12197827" cy="354229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8712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7425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61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4851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3564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2277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0990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970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492" y="8907084"/>
            <a:ext cx="14811647" cy="2752982"/>
          </a:xfrm>
        </p:spPr>
        <p:txBody>
          <a:bodyPr anchor="t"/>
          <a:lstStyle>
            <a:lvl1pPr algn="l">
              <a:defRPr sz="762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492" y="5874955"/>
            <a:ext cx="14811647" cy="3032129"/>
          </a:xfrm>
        </p:spPr>
        <p:txBody>
          <a:bodyPr anchor="b"/>
          <a:lstStyle>
            <a:lvl1pPr marL="0" indent="0">
              <a:buNone/>
              <a:defRPr sz="3811">
                <a:solidFill>
                  <a:schemeClr val="tx1">
                    <a:tint val="75000"/>
                  </a:schemeClr>
                </a:solidFill>
              </a:defRPr>
            </a:lvl1pPr>
            <a:lvl2pPr marL="871286" indent="0">
              <a:buNone/>
              <a:defRPr sz="3430">
                <a:solidFill>
                  <a:schemeClr val="tx1">
                    <a:tint val="75000"/>
                  </a:schemeClr>
                </a:solidFill>
              </a:defRPr>
            </a:lvl2pPr>
            <a:lvl3pPr marL="1742572" indent="0">
              <a:buNone/>
              <a:defRPr sz="3049">
                <a:solidFill>
                  <a:schemeClr val="tx1">
                    <a:tint val="75000"/>
                  </a:schemeClr>
                </a:solidFill>
              </a:defRPr>
            </a:lvl3pPr>
            <a:lvl4pPr marL="2613858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4pPr>
            <a:lvl5pPr marL="3485144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5pPr>
            <a:lvl6pPr marL="4356430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6pPr>
            <a:lvl7pPr marL="5227716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7pPr>
            <a:lvl8pPr marL="6099002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8pPr>
            <a:lvl9pPr marL="6970288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71273" y="3234273"/>
            <a:ext cx="7696248" cy="9147730"/>
          </a:xfrm>
        </p:spPr>
        <p:txBody>
          <a:bodyPr/>
          <a:lstStyle>
            <a:lvl1pPr>
              <a:defRPr sz="5336"/>
            </a:lvl1pPr>
            <a:lvl2pPr>
              <a:defRPr sz="4574"/>
            </a:lvl2pPr>
            <a:lvl3pPr>
              <a:defRPr sz="3811"/>
            </a:lvl3pPr>
            <a:lvl4pPr>
              <a:defRPr sz="3430"/>
            </a:lvl4pPr>
            <a:lvl5pPr>
              <a:defRPr sz="3430"/>
            </a:lvl5pPr>
            <a:lvl6pPr>
              <a:defRPr sz="3430"/>
            </a:lvl6pPr>
            <a:lvl7pPr>
              <a:defRPr sz="3430"/>
            </a:lvl7pPr>
            <a:lvl8pPr>
              <a:defRPr sz="3430"/>
            </a:lvl8pPr>
            <a:lvl9pPr>
              <a:defRPr sz="343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57946" y="3234273"/>
            <a:ext cx="7696248" cy="9147730"/>
          </a:xfrm>
        </p:spPr>
        <p:txBody>
          <a:bodyPr/>
          <a:lstStyle>
            <a:lvl1pPr>
              <a:defRPr sz="5336"/>
            </a:lvl1pPr>
            <a:lvl2pPr>
              <a:defRPr sz="4574"/>
            </a:lvl2pPr>
            <a:lvl3pPr>
              <a:defRPr sz="3811"/>
            </a:lvl3pPr>
            <a:lvl4pPr>
              <a:defRPr sz="3430"/>
            </a:lvl4pPr>
            <a:lvl5pPr>
              <a:defRPr sz="3430"/>
            </a:lvl5pPr>
            <a:lvl6pPr>
              <a:defRPr sz="3430"/>
            </a:lvl6pPr>
            <a:lvl7pPr>
              <a:defRPr sz="3430"/>
            </a:lvl7pPr>
            <a:lvl8pPr>
              <a:defRPr sz="3430"/>
            </a:lvl8pPr>
            <a:lvl9pPr>
              <a:defRPr sz="343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1273" y="3102721"/>
            <a:ext cx="7699274" cy="1293066"/>
          </a:xfrm>
        </p:spPr>
        <p:txBody>
          <a:bodyPr anchor="b"/>
          <a:lstStyle>
            <a:lvl1pPr marL="0" indent="0">
              <a:buNone/>
              <a:defRPr sz="4574" b="1"/>
            </a:lvl1pPr>
            <a:lvl2pPr marL="871286" indent="0">
              <a:buNone/>
              <a:defRPr sz="3811" b="1"/>
            </a:lvl2pPr>
            <a:lvl3pPr marL="1742572" indent="0">
              <a:buNone/>
              <a:defRPr sz="3430" b="1"/>
            </a:lvl3pPr>
            <a:lvl4pPr marL="2613858" indent="0">
              <a:buNone/>
              <a:defRPr sz="3049" b="1"/>
            </a:lvl4pPr>
            <a:lvl5pPr marL="3485144" indent="0">
              <a:buNone/>
              <a:defRPr sz="3049" b="1"/>
            </a:lvl5pPr>
            <a:lvl6pPr marL="4356430" indent="0">
              <a:buNone/>
              <a:defRPr sz="3049" b="1"/>
            </a:lvl6pPr>
            <a:lvl7pPr marL="5227716" indent="0">
              <a:buNone/>
              <a:defRPr sz="3049" b="1"/>
            </a:lvl7pPr>
            <a:lvl8pPr marL="6099002" indent="0">
              <a:buNone/>
              <a:defRPr sz="3049" b="1"/>
            </a:lvl8pPr>
            <a:lvl9pPr marL="6970288" indent="0">
              <a:buNone/>
              <a:defRPr sz="304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1273" y="4395787"/>
            <a:ext cx="7699274" cy="7986215"/>
          </a:xfrm>
        </p:spPr>
        <p:txBody>
          <a:bodyPr/>
          <a:lstStyle>
            <a:lvl1pPr>
              <a:defRPr sz="4574"/>
            </a:lvl1pPr>
            <a:lvl2pPr>
              <a:defRPr sz="3811"/>
            </a:lvl2pPr>
            <a:lvl3pPr>
              <a:defRPr sz="3430"/>
            </a:lvl3pPr>
            <a:lvl4pPr>
              <a:defRPr sz="3049"/>
            </a:lvl4pPr>
            <a:lvl5pPr>
              <a:defRPr sz="3049"/>
            </a:lvl5pPr>
            <a:lvl6pPr>
              <a:defRPr sz="3049"/>
            </a:lvl6pPr>
            <a:lvl7pPr>
              <a:defRPr sz="3049"/>
            </a:lvl7pPr>
            <a:lvl8pPr>
              <a:defRPr sz="3049"/>
            </a:lvl8pPr>
            <a:lvl9pPr>
              <a:defRPr sz="30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851896" y="3102721"/>
            <a:ext cx="7702299" cy="1293066"/>
          </a:xfrm>
        </p:spPr>
        <p:txBody>
          <a:bodyPr anchor="b"/>
          <a:lstStyle>
            <a:lvl1pPr marL="0" indent="0">
              <a:buNone/>
              <a:defRPr sz="4574" b="1"/>
            </a:lvl1pPr>
            <a:lvl2pPr marL="871286" indent="0">
              <a:buNone/>
              <a:defRPr sz="3811" b="1"/>
            </a:lvl2pPr>
            <a:lvl3pPr marL="1742572" indent="0">
              <a:buNone/>
              <a:defRPr sz="3430" b="1"/>
            </a:lvl3pPr>
            <a:lvl4pPr marL="2613858" indent="0">
              <a:buNone/>
              <a:defRPr sz="3049" b="1"/>
            </a:lvl4pPr>
            <a:lvl5pPr marL="3485144" indent="0">
              <a:buNone/>
              <a:defRPr sz="3049" b="1"/>
            </a:lvl5pPr>
            <a:lvl6pPr marL="4356430" indent="0">
              <a:buNone/>
              <a:defRPr sz="3049" b="1"/>
            </a:lvl6pPr>
            <a:lvl7pPr marL="5227716" indent="0">
              <a:buNone/>
              <a:defRPr sz="3049" b="1"/>
            </a:lvl7pPr>
            <a:lvl8pPr marL="6099002" indent="0">
              <a:buNone/>
              <a:defRPr sz="3049" b="1"/>
            </a:lvl8pPr>
            <a:lvl9pPr marL="6970288" indent="0">
              <a:buNone/>
              <a:defRPr sz="304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851896" y="4395787"/>
            <a:ext cx="7702299" cy="7986215"/>
          </a:xfrm>
        </p:spPr>
        <p:txBody>
          <a:bodyPr/>
          <a:lstStyle>
            <a:lvl1pPr>
              <a:defRPr sz="4574"/>
            </a:lvl1pPr>
            <a:lvl2pPr>
              <a:defRPr sz="3811"/>
            </a:lvl2pPr>
            <a:lvl3pPr>
              <a:defRPr sz="3430"/>
            </a:lvl3pPr>
            <a:lvl4pPr>
              <a:defRPr sz="3049"/>
            </a:lvl4pPr>
            <a:lvl5pPr>
              <a:defRPr sz="3049"/>
            </a:lvl5pPr>
            <a:lvl6pPr>
              <a:defRPr sz="3049"/>
            </a:lvl6pPr>
            <a:lvl7pPr>
              <a:defRPr sz="3049"/>
            </a:lvl7pPr>
            <a:lvl8pPr>
              <a:defRPr sz="3049"/>
            </a:lvl8pPr>
            <a:lvl9pPr>
              <a:defRPr sz="30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1274" y="551880"/>
            <a:ext cx="5732859" cy="2348698"/>
          </a:xfrm>
        </p:spPr>
        <p:txBody>
          <a:bodyPr anchor="b"/>
          <a:lstStyle>
            <a:lvl1pPr algn="l">
              <a:defRPr sz="381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2874" y="551881"/>
            <a:ext cx="9741320" cy="11830122"/>
          </a:xfrm>
        </p:spPr>
        <p:txBody>
          <a:bodyPr/>
          <a:lstStyle>
            <a:lvl1pPr>
              <a:defRPr sz="6098"/>
            </a:lvl1pPr>
            <a:lvl2pPr>
              <a:defRPr sz="5336"/>
            </a:lvl2pPr>
            <a:lvl3pPr>
              <a:defRPr sz="4574"/>
            </a:lvl3pPr>
            <a:lvl4pPr>
              <a:defRPr sz="3811"/>
            </a:lvl4pPr>
            <a:lvl5pPr>
              <a:defRPr sz="3811"/>
            </a:lvl5pPr>
            <a:lvl6pPr>
              <a:defRPr sz="3811"/>
            </a:lvl6pPr>
            <a:lvl7pPr>
              <a:defRPr sz="3811"/>
            </a:lvl7pPr>
            <a:lvl8pPr>
              <a:defRPr sz="3811"/>
            </a:lvl8pPr>
            <a:lvl9pPr>
              <a:defRPr sz="38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1274" y="2900579"/>
            <a:ext cx="5732859" cy="9481424"/>
          </a:xfrm>
        </p:spPr>
        <p:txBody>
          <a:bodyPr/>
          <a:lstStyle>
            <a:lvl1pPr marL="0" indent="0">
              <a:buNone/>
              <a:defRPr sz="2668"/>
            </a:lvl1pPr>
            <a:lvl2pPr marL="871286" indent="0">
              <a:buNone/>
              <a:defRPr sz="2287"/>
            </a:lvl2pPr>
            <a:lvl3pPr marL="1742572" indent="0">
              <a:buNone/>
              <a:defRPr sz="1906"/>
            </a:lvl3pPr>
            <a:lvl4pPr marL="2613858" indent="0">
              <a:buNone/>
              <a:defRPr sz="1715"/>
            </a:lvl4pPr>
            <a:lvl5pPr marL="3485144" indent="0">
              <a:buNone/>
              <a:defRPr sz="1715"/>
            </a:lvl5pPr>
            <a:lvl6pPr marL="4356430" indent="0">
              <a:buNone/>
              <a:defRPr sz="1715"/>
            </a:lvl6pPr>
            <a:lvl7pPr marL="5227716" indent="0">
              <a:buNone/>
              <a:defRPr sz="1715"/>
            </a:lvl7pPr>
            <a:lvl8pPr marL="6099002" indent="0">
              <a:buNone/>
              <a:defRPr sz="1715"/>
            </a:lvl8pPr>
            <a:lvl9pPr marL="6970288" indent="0">
              <a:buNone/>
              <a:defRPr sz="17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5514" y="9702817"/>
            <a:ext cx="10455280" cy="1145472"/>
          </a:xfrm>
        </p:spPr>
        <p:txBody>
          <a:bodyPr anchor="b"/>
          <a:lstStyle>
            <a:lvl1pPr algn="l">
              <a:defRPr sz="381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415514" y="1238521"/>
            <a:ext cx="10455280" cy="8316700"/>
          </a:xfrm>
        </p:spPr>
        <p:txBody>
          <a:bodyPr/>
          <a:lstStyle>
            <a:lvl1pPr marL="0" indent="0">
              <a:buNone/>
              <a:defRPr sz="6098"/>
            </a:lvl1pPr>
            <a:lvl2pPr marL="871286" indent="0">
              <a:buNone/>
              <a:defRPr sz="5336"/>
            </a:lvl2pPr>
            <a:lvl3pPr marL="1742572" indent="0">
              <a:buNone/>
              <a:defRPr sz="4574"/>
            </a:lvl3pPr>
            <a:lvl4pPr marL="2613858" indent="0">
              <a:buNone/>
              <a:defRPr sz="3811"/>
            </a:lvl4pPr>
            <a:lvl5pPr marL="3485144" indent="0">
              <a:buNone/>
              <a:defRPr sz="3811"/>
            </a:lvl5pPr>
            <a:lvl6pPr marL="4356430" indent="0">
              <a:buNone/>
              <a:defRPr sz="3811"/>
            </a:lvl6pPr>
            <a:lvl7pPr marL="5227716" indent="0">
              <a:buNone/>
              <a:defRPr sz="3811"/>
            </a:lvl7pPr>
            <a:lvl8pPr marL="6099002" indent="0">
              <a:buNone/>
              <a:defRPr sz="3811"/>
            </a:lvl8pPr>
            <a:lvl9pPr marL="6970288" indent="0">
              <a:buNone/>
              <a:defRPr sz="3811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15514" y="10848290"/>
            <a:ext cx="10455280" cy="1626761"/>
          </a:xfrm>
        </p:spPr>
        <p:txBody>
          <a:bodyPr/>
          <a:lstStyle>
            <a:lvl1pPr marL="0" indent="0">
              <a:buNone/>
              <a:defRPr sz="2668"/>
            </a:lvl1pPr>
            <a:lvl2pPr marL="871286" indent="0">
              <a:buNone/>
              <a:defRPr sz="2287"/>
            </a:lvl2pPr>
            <a:lvl3pPr marL="1742572" indent="0">
              <a:buNone/>
              <a:defRPr sz="1906"/>
            </a:lvl3pPr>
            <a:lvl4pPr marL="2613858" indent="0">
              <a:buNone/>
              <a:defRPr sz="1715"/>
            </a:lvl4pPr>
            <a:lvl5pPr marL="3485144" indent="0">
              <a:buNone/>
              <a:defRPr sz="1715"/>
            </a:lvl5pPr>
            <a:lvl6pPr marL="4356430" indent="0">
              <a:buNone/>
              <a:defRPr sz="1715"/>
            </a:lvl6pPr>
            <a:lvl7pPr marL="5227716" indent="0">
              <a:buNone/>
              <a:defRPr sz="1715"/>
            </a:lvl7pPr>
            <a:lvl8pPr marL="6099002" indent="0">
              <a:buNone/>
              <a:defRPr sz="1715"/>
            </a:lvl8pPr>
            <a:lvl9pPr marL="6970288" indent="0">
              <a:buNone/>
              <a:defRPr sz="17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633464" y="555090"/>
            <a:ext cx="3920730" cy="11826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71273" y="555090"/>
            <a:ext cx="11471766" cy="11826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742572" rtl="0" eaLnBrk="1" latinLnBrk="0" hangingPunct="1">
        <a:spcBef>
          <a:spcPct val="0"/>
        </a:spcBef>
        <a:buNone/>
        <a:defRPr sz="838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53465" indent="-653465" algn="l" defTabSz="1742572" rtl="0" eaLnBrk="1" latinLnBrk="0" hangingPunct="1">
        <a:spcBef>
          <a:spcPct val="20000"/>
        </a:spcBef>
        <a:buFont typeface="Arial" pitchFamily="34" charset="0"/>
        <a:buChar char="•"/>
        <a:defRPr sz="6098" kern="1200">
          <a:solidFill>
            <a:schemeClr val="tx1"/>
          </a:solidFill>
          <a:latin typeface="+mn-lt"/>
          <a:ea typeface="+mn-ea"/>
          <a:cs typeface="+mn-cs"/>
        </a:defRPr>
      </a:lvl1pPr>
      <a:lvl2pPr marL="1415840" indent="-544554" algn="l" defTabSz="1742572" rtl="0" eaLnBrk="1" latinLnBrk="0" hangingPunct="1">
        <a:spcBef>
          <a:spcPct val="20000"/>
        </a:spcBef>
        <a:buFont typeface="Arial" pitchFamily="34" charset="0"/>
        <a:buChar char="–"/>
        <a:defRPr sz="5336" kern="1200">
          <a:solidFill>
            <a:schemeClr val="tx1"/>
          </a:solidFill>
          <a:latin typeface="+mn-lt"/>
          <a:ea typeface="+mn-ea"/>
          <a:cs typeface="+mn-cs"/>
        </a:defRPr>
      </a:lvl2pPr>
      <a:lvl3pPr marL="2178215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4574" kern="1200">
          <a:solidFill>
            <a:schemeClr val="tx1"/>
          </a:solidFill>
          <a:latin typeface="+mn-lt"/>
          <a:ea typeface="+mn-ea"/>
          <a:cs typeface="+mn-cs"/>
        </a:defRPr>
      </a:lvl3pPr>
      <a:lvl4pPr marL="3049501" indent="-435643" algn="l" defTabSz="1742572" rtl="0" eaLnBrk="1" latinLnBrk="0" hangingPunct="1">
        <a:spcBef>
          <a:spcPct val="20000"/>
        </a:spcBef>
        <a:buFont typeface="Arial" pitchFamily="34" charset="0"/>
        <a:buChar char="–"/>
        <a:defRPr sz="3811" kern="1200">
          <a:solidFill>
            <a:schemeClr val="tx1"/>
          </a:solidFill>
          <a:latin typeface="+mn-lt"/>
          <a:ea typeface="+mn-ea"/>
          <a:cs typeface="+mn-cs"/>
        </a:defRPr>
      </a:lvl4pPr>
      <a:lvl5pPr marL="3920787" indent="-435643" algn="l" defTabSz="1742572" rtl="0" eaLnBrk="1" latinLnBrk="0" hangingPunct="1">
        <a:spcBef>
          <a:spcPct val="20000"/>
        </a:spcBef>
        <a:buFont typeface="Arial" pitchFamily="34" charset="0"/>
        <a:buChar char="»"/>
        <a:defRPr sz="3811" kern="1200">
          <a:solidFill>
            <a:schemeClr val="tx1"/>
          </a:solidFill>
          <a:latin typeface="+mn-lt"/>
          <a:ea typeface="+mn-ea"/>
          <a:cs typeface="+mn-cs"/>
        </a:defRPr>
      </a:lvl5pPr>
      <a:lvl6pPr marL="4792073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3811" kern="1200">
          <a:solidFill>
            <a:schemeClr val="tx1"/>
          </a:solidFill>
          <a:latin typeface="+mn-lt"/>
          <a:ea typeface="+mn-ea"/>
          <a:cs typeface="+mn-cs"/>
        </a:defRPr>
      </a:lvl6pPr>
      <a:lvl7pPr marL="5663359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3811" kern="1200">
          <a:solidFill>
            <a:schemeClr val="tx1"/>
          </a:solidFill>
          <a:latin typeface="+mn-lt"/>
          <a:ea typeface="+mn-ea"/>
          <a:cs typeface="+mn-cs"/>
        </a:defRPr>
      </a:lvl7pPr>
      <a:lvl8pPr marL="6534645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3811" kern="1200">
          <a:solidFill>
            <a:schemeClr val="tx1"/>
          </a:solidFill>
          <a:latin typeface="+mn-lt"/>
          <a:ea typeface="+mn-ea"/>
          <a:cs typeface="+mn-cs"/>
        </a:defRPr>
      </a:lvl8pPr>
      <a:lvl9pPr marL="7405931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381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1pPr>
      <a:lvl2pPr marL="871286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2pPr>
      <a:lvl3pPr marL="1742572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3pPr>
      <a:lvl4pPr marL="2613858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4pPr>
      <a:lvl5pPr marL="3485144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5pPr>
      <a:lvl6pPr marL="4356430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6pPr>
      <a:lvl7pPr marL="5227716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7pPr>
      <a:lvl8pPr marL="6099002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8pPr>
      <a:lvl9pPr marL="6970288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34721" y="36779527"/>
            <a:ext cx="29324843" cy="6461592"/>
            <a:chOff x="0" y="0"/>
            <a:chExt cx="3032124" cy="6075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32124" cy="607578"/>
            </a:xfrm>
            <a:custGeom>
              <a:avLst/>
              <a:gdLst/>
              <a:ahLst/>
              <a:cxnLst/>
              <a:rect l="l" t="t" r="r" b="b"/>
              <a:pathLst>
                <a:path w="3032124" h="607578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sp>
        <p:nvSpPr>
          <p:cNvPr id="5" name="Freeform 5"/>
          <p:cNvSpPr/>
          <p:nvPr/>
        </p:nvSpPr>
        <p:spPr>
          <a:xfrm>
            <a:off x="3163237" y="34829695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48959"/>
            </a:stretch>
          </a:blipFill>
        </p:spPr>
        <p:txBody>
          <a:bodyPr/>
          <a:lstStyle/>
          <a:p>
            <a:endParaRPr lang="pt-BR" sz="6769"/>
          </a:p>
        </p:txBody>
      </p:sp>
      <p:grpSp>
        <p:nvGrpSpPr>
          <p:cNvPr id="6" name="Group 6"/>
          <p:cNvGrpSpPr/>
          <p:nvPr/>
        </p:nvGrpSpPr>
        <p:grpSpPr>
          <a:xfrm>
            <a:off x="-234720" y="29263464"/>
            <a:ext cx="29304069" cy="9253255"/>
            <a:chOff x="0" y="0"/>
            <a:chExt cx="3163653" cy="87007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63653" cy="870076"/>
            </a:xfrm>
            <a:custGeom>
              <a:avLst/>
              <a:gdLst/>
              <a:ahLst/>
              <a:cxnLst/>
              <a:rect l="l" t="t" r="r" b="b"/>
              <a:pathLst>
                <a:path w="3163653" h="870076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234719" y="21516783"/>
            <a:ext cx="29324842" cy="8954039"/>
            <a:chOff x="0" y="0"/>
            <a:chExt cx="3225442" cy="84194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225442" cy="841941"/>
            </a:xfrm>
            <a:custGeom>
              <a:avLst/>
              <a:gdLst/>
              <a:ahLst/>
              <a:cxnLst/>
              <a:rect l="l" t="t" r="r" b="b"/>
              <a:pathLst>
                <a:path w="3225442" h="841941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234443" y="15831338"/>
            <a:ext cx="29304069" cy="7866470"/>
            <a:chOff x="0" y="0"/>
            <a:chExt cx="3032124" cy="73967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032124" cy="739677"/>
            </a:xfrm>
            <a:custGeom>
              <a:avLst/>
              <a:gdLst/>
              <a:ahLst/>
              <a:cxnLst/>
              <a:rect l="l" t="t" r="r" b="b"/>
              <a:pathLst>
                <a:path w="3032124" h="739677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234719" y="7322639"/>
            <a:ext cx="29304069" cy="8719626"/>
            <a:chOff x="0" y="0"/>
            <a:chExt cx="3218728" cy="81989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218728" cy="819899"/>
            </a:xfrm>
            <a:custGeom>
              <a:avLst/>
              <a:gdLst/>
              <a:ahLst/>
              <a:cxnLst/>
              <a:rect l="l" t="t" r="r" b="b"/>
              <a:pathLst>
                <a:path w="3218728" h="819899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755436" cy="803341"/>
            </a:xfrm>
            <a:custGeom>
              <a:avLst/>
              <a:gdLst/>
              <a:ahLst/>
              <a:cxnLst/>
              <a:rect l="l" t="t" r="r" b="b"/>
              <a:pathLst>
                <a:path w="2755436" h="803341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21" name="Group 21"/>
          <p:cNvGrpSpPr/>
          <p:nvPr/>
        </p:nvGrpSpPr>
        <p:grpSpPr>
          <a:xfrm rot="-5400000">
            <a:off x="11201459" y="13597992"/>
            <a:ext cx="21438984" cy="12754835"/>
            <a:chOff x="0" y="0"/>
            <a:chExt cx="1922704" cy="117699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922704" cy="1176995"/>
            </a:xfrm>
            <a:custGeom>
              <a:avLst/>
              <a:gdLst/>
              <a:ahLst/>
              <a:cxnLst/>
              <a:rect l="l" t="t" r="r" b="b"/>
              <a:pathLst>
                <a:path w="1922704" h="1176995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</p:spPr>
          <p:txBody>
            <a:bodyPr lIns="89001" tIns="89001" rIns="89001" bIns="89001" rtlCol="0" anchor="ctr"/>
            <a:lstStyle/>
            <a:p>
              <a:pPr algn="ctr">
                <a:lnSpc>
                  <a:spcPts val="7596"/>
                </a:lnSpc>
              </a:pPr>
              <a:endParaRPr sz="6769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68498" y="29514177"/>
            <a:ext cx="13779314" cy="8728488"/>
            <a:chOff x="0" y="0"/>
            <a:chExt cx="1302166" cy="82073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02166" cy="820732"/>
            </a:xfrm>
            <a:custGeom>
              <a:avLst/>
              <a:gdLst/>
              <a:ahLst/>
              <a:cxnLst/>
              <a:rect l="l" t="t" r="r" b="b"/>
              <a:pathLst>
                <a:path w="1302166" h="820732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</a:pPr>
              <a:endParaRPr sz="6769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5543533" y="31011417"/>
            <a:ext cx="12754836" cy="7231248"/>
            <a:chOff x="0" y="0"/>
            <a:chExt cx="8764870" cy="5371264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8764870" cy="5371264"/>
              <a:chOff x="0" y="0"/>
              <a:chExt cx="1329056" cy="814469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avLst/>
                <a:gdLst/>
                <a:ahLst/>
                <a:cxnLst/>
                <a:rect l="l" t="t" r="r" b="b"/>
                <a:pathLst>
                  <a:path w="1329056" h="814469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 sz="6769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</p:spPr>
            <p:txBody>
              <a:bodyPr lIns="96808" tIns="96808" rIns="96808" bIns="96808" rtlCol="0" anchor="ctr"/>
              <a:lstStyle/>
              <a:p>
                <a:pPr algn="ctr">
                  <a:lnSpc>
                    <a:spcPts val="7596"/>
                  </a:lnSpc>
                </a:pPr>
                <a:endParaRPr sz="6769"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963633" y="234108"/>
              <a:ext cx="6635674" cy="4333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10"/>
                </a:lnSpc>
              </a:pPr>
              <a:r>
                <a:rPr lang="en-US" sz="4762" b="1" spc="179" dirty="0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REFERÊNCIAS</a:t>
              </a:r>
            </a:p>
          </p:txBody>
        </p:sp>
      </p:grpSp>
      <p:sp>
        <p:nvSpPr>
          <p:cNvPr id="32" name="Freeform 32"/>
          <p:cNvSpPr/>
          <p:nvPr/>
        </p:nvSpPr>
        <p:spPr>
          <a:xfrm>
            <a:off x="-916543" y="1525353"/>
            <a:ext cx="8571184" cy="2454222"/>
          </a:xfrm>
          <a:custGeom>
            <a:avLst/>
            <a:gdLst/>
            <a:ahLst/>
            <a:cxnLst/>
            <a:rect l="l" t="t" r="r" b="b"/>
            <a:pathLst>
              <a:path w="4497722" h="1287851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sz="6769"/>
          </a:p>
        </p:txBody>
      </p:sp>
      <p:sp>
        <p:nvSpPr>
          <p:cNvPr id="33" name="Freeform 33"/>
          <p:cNvSpPr/>
          <p:nvPr/>
        </p:nvSpPr>
        <p:spPr>
          <a:xfrm>
            <a:off x="3163237" y="-4997460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48959"/>
            </a:stretch>
          </a:blipFill>
        </p:spPr>
        <p:txBody>
          <a:bodyPr/>
          <a:lstStyle/>
          <a:p>
            <a:endParaRPr lang="pt-BR" sz="6769"/>
          </a:p>
        </p:txBody>
      </p:sp>
      <p:sp>
        <p:nvSpPr>
          <p:cNvPr id="34" name="Freeform 34"/>
          <p:cNvSpPr/>
          <p:nvPr/>
        </p:nvSpPr>
        <p:spPr>
          <a:xfrm>
            <a:off x="21014306" y="1712017"/>
            <a:ext cx="7228385" cy="2335060"/>
          </a:xfrm>
          <a:custGeom>
            <a:avLst/>
            <a:gdLst/>
            <a:ahLst/>
            <a:cxnLst/>
            <a:rect l="l" t="t" r="r" b="b"/>
            <a:pathLst>
              <a:path w="3793089" h="1225321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 sz="6769"/>
          </a:p>
        </p:txBody>
      </p:sp>
      <p:sp>
        <p:nvSpPr>
          <p:cNvPr id="36" name="TextBox 36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5077" b="1" spc="192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INTRODUÇÃO</a:t>
            </a:r>
          </a:p>
        </p:txBody>
      </p:sp>
      <p:grpSp>
        <p:nvGrpSpPr>
          <p:cNvPr id="37" name="Group 37"/>
          <p:cNvGrpSpPr/>
          <p:nvPr/>
        </p:nvGrpSpPr>
        <p:grpSpPr>
          <a:xfrm rot="-5400000">
            <a:off x="2932239" y="7058047"/>
            <a:ext cx="9444805" cy="13848538"/>
            <a:chOff x="0" y="0"/>
            <a:chExt cx="958980" cy="130113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58980" cy="1301139"/>
            </a:xfrm>
            <a:custGeom>
              <a:avLst/>
              <a:gdLst/>
              <a:ahLst/>
              <a:cxnLst/>
              <a:rect l="l" t="t" r="r" b="b"/>
              <a:pathLst>
                <a:path w="958980" h="1301139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 sz="6769" dirty="0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</p:spPr>
          <p:txBody>
            <a:bodyPr lIns="89001" tIns="89001" rIns="89001" bIns="89001" rtlCol="0" anchor="ctr"/>
            <a:lstStyle/>
            <a:p>
              <a:pPr algn="ctr">
                <a:lnSpc>
                  <a:spcPts val="7596"/>
                </a:lnSpc>
              </a:pPr>
              <a:endParaRPr sz="6769"/>
            </a:p>
          </p:txBody>
        </p:sp>
      </p:grpSp>
      <p:grpSp>
        <p:nvGrpSpPr>
          <p:cNvPr id="40" name="Group 40"/>
          <p:cNvGrpSpPr/>
          <p:nvPr/>
        </p:nvGrpSpPr>
        <p:grpSpPr>
          <a:xfrm rot="-5400000">
            <a:off x="2218178" y="16997597"/>
            <a:ext cx="10478335" cy="14305530"/>
            <a:chOff x="0" y="-47625"/>
            <a:chExt cx="949301" cy="1348764"/>
          </a:xfrm>
        </p:grpSpPr>
        <p:sp>
          <p:nvSpPr>
            <p:cNvPr id="41" name="Freeform 41"/>
            <p:cNvSpPr/>
            <p:nvPr/>
          </p:nvSpPr>
          <p:spPr>
            <a:xfrm>
              <a:off x="13134" y="-2471"/>
              <a:ext cx="936167" cy="1301139"/>
            </a:xfrm>
            <a:custGeom>
              <a:avLst/>
              <a:gdLst/>
              <a:ahLst/>
              <a:cxnLst/>
              <a:rect l="l" t="t" r="r" b="b"/>
              <a:pathLst>
                <a:path w="936167" h="1301139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</p:spPr>
          <p:txBody>
            <a:bodyPr lIns="89001" tIns="89001" rIns="89001" bIns="89001" rtlCol="0" anchor="ctr"/>
            <a:lstStyle/>
            <a:p>
              <a:pPr algn="ctr">
                <a:lnSpc>
                  <a:spcPts val="7596"/>
                </a:lnSpc>
              </a:pPr>
              <a:endParaRPr sz="6769"/>
            </a:p>
          </p:txBody>
        </p:sp>
      </p:grpSp>
      <p:sp>
        <p:nvSpPr>
          <p:cNvPr id="43" name="Freeform 43"/>
          <p:cNvSpPr/>
          <p:nvPr/>
        </p:nvSpPr>
        <p:spPr>
          <a:xfrm>
            <a:off x="22527251" y="36801439"/>
            <a:ext cx="5609093" cy="5642282"/>
          </a:xfrm>
          <a:custGeom>
            <a:avLst/>
            <a:gdLst/>
            <a:ahLst/>
            <a:cxnLst/>
            <a:rect l="l" t="t" r="r" b="b"/>
            <a:pathLst>
              <a:path w="2943367" h="2960783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BR" sz="6769"/>
          </a:p>
        </p:txBody>
      </p:sp>
      <p:sp>
        <p:nvSpPr>
          <p:cNvPr id="44" name="TextBox 44"/>
          <p:cNvSpPr txBox="1"/>
          <p:nvPr/>
        </p:nvSpPr>
        <p:spPr>
          <a:xfrm>
            <a:off x="-1" y="4700167"/>
            <a:ext cx="28813765" cy="1484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49"/>
              </a:lnSpc>
            </a:pPr>
            <a:r>
              <a:rPr lang="en-US" sz="11434" b="1" spc="433" dirty="0">
                <a:solidFill>
                  <a:srgbClr val="000000"/>
                </a:solidFill>
                <a:latin typeface="+mj-lt"/>
                <a:ea typeface="Open Sans 1 Bold"/>
                <a:cs typeface="Open Sans 1 Bold"/>
                <a:sym typeface="Open Sans 1 Bold"/>
              </a:rPr>
              <a:t>PROJETO SCANNER AI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404768" y="6355587"/>
            <a:ext cx="24286089" cy="1661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68"/>
              </a:lnSpc>
            </a:pPr>
            <a:r>
              <a:rPr lang="en-US" sz="4762" b="1" dirty="0">
                <a:solidFill>
                  <a:srgbClr val="000000"/>
                </a:solidFill>
                <a:ea typeface="Open Sans 2 Bold"/>
                <a:cs typeface="Open Sans 2 Bold"/>
                <a:sym typeface="Open Sans 2 Bold"/>
              </a:rPr>
              <a:t>Antônio Petri, Leonardo Santos, Lucas Gutierrez, Vitor Kanashiro </a:t>
            </a:r>
          </a:p>
          <a:p>
            <a:pPr algn="ctr">
              <a:lnSpc>
                <a:spcPts val="6668"/>
              </a:lnSpc>
            </a:pPr>
            <a:r>
              <a:rPr lang="en-US" sz="4762" b="1" dirty="0" err="1">
                <a:solidFill>
                  <a:srgbClr val="000000"/>
                </a:solidFill>
                <a:ea typeface="Open Sans 2 Bold"/>
                <a:cs typeface="Open Sans 2 Bold"/>
                <a:sym typeface="Open Sans 2 Bold"/>
              </a:rPr>
              <a:t>Orientadores</a:t>
            </a:r>
            <a:r>
              <a:rPr lang="en-US" sz="4762" b="1" dirty="0">
                <a:solidFill>
                  <a:srgbClr val="000000"/>
                </a:solidFill>
                <a:ea typeface="Open Sans 2 Bold"/>
                <a:cs typeface="Open Sans 2 Bold"/>
                <a:sym typeface="Open Sans 2 Bold"/>
              </a:rPr>
              <a:t>: </a:t>
            </a:r>
            <a:r>
              <a:rPr lang="pt-BR" sz="4800" dirty="0"/>
              <a:t>Marcos Minoru, Rafael Rossetti, </a:t>
            </a:r>
            <a:r>
              <a:rPr lang="pt-BR" sz="4800" dirty="0" err="1"/>
              <a:t>Rodnil</a:t>
            </a:r>
            <a:r>
              <a:rPr lang="pt-BR" sz="4800" dirty="0"/>
              <a:t> Lisboa, Rodrigo da Rosa, Victor </a:t>
            </a:r>
            <a:r>
              <a:rPr lang="pt-BR" sz="4800" dirty="0" err="1"/>
              <a:t>Quiroz</a:t>
            </a:r>
            <a:r>
              <a:rPr lang="pt-BR" sz="4800" dirty="0"/>
              <a:t> </a:t>
            </a:r>
            <a:endParaRPr lang="en-US" sz="4762" dirty="0">
              <a:solidFill>
                <a:srgbClr val="000000"/>
              </a:solidFill>
              <a:ea typeface="Open Sans 2"/>
              <a:cs typeface="Open Sans 2"/>
              <a:sym typeface="Open Sans 2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15523036" y="17287513"/>
            <a:ext cx="12433206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3430" spc="130" dirty="0" err="1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Gráfico</a:t>
            </a:r>
            <a:r>
              <a:rPr lang="en-US" sz="3430" spc="130" dirty="0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 01: Dashboard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461226" y="29809698"/>
            <a:ext cx="10186386" cy="61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4800" b="1" spc="179" dirty="0">
                <a:solidFill>
                  <a:srgbClr val="000000"/>
                </a:solidFill>
                <a:ea typeface="Open Sans 1 Bold"/>
                <a:cs typeface="Open Sans 1 Bold"/>
                <a:sym typeface="Open Sans 1 Bold"/>
              </a:rPr>
              <a:t>TECNOLOGIAS UTILIZADAS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6962727" y="9576975"/>
            <a:ext cx="10186386" cy="61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4800" b="1" spc="179" dirty="0">
                <a:solidFill>
                  <a:srgbClr val="000000"/>
                </a:solidFill>
                <a:latin typeface="+mj-lt"/>
                <a:ea typeface="Open Sans 1 Bold"/>
                <a:cs typeface="Open Sans 1 Bold"/>
                <a:sym typeface="Open Sans 1 Bold"/>
              </a:rPr>
              <a:t>RESULTADOS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561448" y="9566709"/>
            <a:ext cx="10186386" cy="61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4800" b="1" spc="179" dirty="0">
                <a:solidFill>
                  <a:srgbClr val="000000"/>
                </a:solidFill>
                <a:latin typeface="+mj-lt"/>
                <a:ea typeface="Open Sans 1 Bold"/>
                <a:cs typeface="Open Sans 1 Bold"/>
                <a:sym typeface="Open Sans 1 Bold"/>
              </a:rPr>
              <a:t>O PROBLEMA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559859" y="19189902"/>
            <a:ext cx="10186386" cy="61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4800" b="1" spc="179" dirty="0">
                <a:solidFill>
                  <a:srgbClr val="000000"/>
                </a:solidFill>
                <a:latin typeface="+mj-lt"/>
                <a:ea typeface="Open Sans 1 Bold"/>
                <a:cs typeface="Open Sans 1 Bold"/>
                <a:sym typeface="Open Sans 1 Bold"/>
              </a:rPr>
              <a:t>A PROPOSTA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5962964" y="31899946"/>
            <a:ext cx="10639251" cy="47089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3400" u="sng" dirty="0"/>
              <a:t>DHILLON, </a:t>
            </a:r>
            <a:r>
              <a:rPr lang="pt-BR" sz="3400" u="sng" dirty="0" err="1"/>
              <a:t>Balbir</a:t>
            </a:r>
            <a:r>
              <a:rPr lang="pt-BR" sz="3400" u="sng" dirty="0"/>
              <a:t> S. </a:t>
            </a:r>
            <a:r>
              <a:rPr lang="pt-BR" sz="3400" u="sng" dirty="0" err="1"/>
              <a:t>Human</a:t>
            </a:r>
            <a:r>
              <a:rPr lang="pt-BR" sz="3400" u="sng" dirty="0"/>
              <a:t> </a:t>
            </a:r>
            <a:r>
              <a:rPr lang="pt-BR" sz="3400" u="sng" dirty="0" err="1"/>
              <a:t>reliability</a:t>
            </a:r>
            <a:r>
              <a:rPr lang="pt-BR" sz="3400" u="sng" dirty="0"/>
              <a:t>, </a:t>
            </a:r>
            <a:r>
              <a:rPr lang="pt-BR" sz="3400" u="sng" dirty="0" err="1"/>
              <a:t>error</a:t>
            </a:r>
            <a:r>
              <a:rPr lang="pt-BR" sz="3400" u="sng" dirty="0"/>
              <a:t>, </a:t>
            </a:r>
            <a:r>
              <a:rPr lang="pt-BR" sz="3400" u="sng" dirty="0" err="1"/>
              <a:t>and</a:t>
            </a:r>
            <a:r>
              <a:rPr lang="pt-BR" sz="3400" u="sng" dirty="0"/>
              <a:t> </a:t>
            </a:r>
            <a:r>
              <a:rPr lang="pt-BR" sz="3400" u="sng" dirty="0" err="1"/>
              <a:t>quality</a:t>
            </a:r>
            <a:r>
              <a:rPr lang="pt-BR" sz="3400" u="sng" dirty="0"/>
              <a:t> </a:t>
            </a:r>
            <a:r>
              <a:rPr lang="pt-BR" sz="3400" u="sng" dirty="0" err="1"/>
              <a:t>assurance</a:t>
            </a:r>
            <a:r>
              <a:rPr lang="pt-BR" sz="3400" u="sng" dirty="0"/>
              <a:t>. Nova York: Springer Science &amp; Business Media, 2012. (Referência clássica sobre a confiabilidade humana em processos industriais). 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3400" u="sng" dirty="0"/>
              <a:t> SILVA, José Carlos da; REZENDE, D. A. Acuracidade do inventário e os erros humanos: um estudo de caso em um centro de distribuição. In: CONGRESSO BRASILEIRO DE CUSTOS, 23., 2016, Porto de Galinhas. Anais... São Leopoldo: ABC, 2016.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373217" y="30630944"/>
            <a:ext cx="12562767" cy="7325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lvl="0" indent="-571500" algn="just">
              <a:buFont typeface="Arial" panose="020B0604020202020204" pitchFamily="34" charset="0"/>
              <a:buChar char="•"/>
            </a:pPr>
            <a:r>
              <a:rPr lang="pt-BR" sz="3400" b="1" dirty="0"/>
              <a:t>Inteligência Artificial &amp; Visão Computacional:</a:t>
            </a:r>
            <a:r>
              <a:rPr lang="pt-BR" sz="3400" dirty="0"/>
              <a:t> Implementação de detecção em tempo real utilizando o modelo </a:t>
            </a:r>
            <a:r>
              <a:rPr lang="pt-BR" sz="3400" b="1" dirty="0"/>
              <a:t>YOLOv8</a:t>
            </a:r>
            <a:r>
              <a:rPr lang="pt-BR" sz="3400" dirty="0"/>
              <a:t> e a biblioteca </a:t>
            </a:r>
            <a:r>
              <a:rPr lang="pt-BR" sz="3400" b="1" dirty="0" err="1"/>
              <a:t>OpenCV</a:t>
            </a:r>
            <a:r>
              <a:rPr lang="pt-BR" sz="3400" dirty="0"/>
              <a:t>, integrados via </a:t>
            </a:r>
            <a:r>
              <a:rPr lang="pt-BR" sz="3400" b="1" dirty="0"/>
              <a:t>Python</a:t>
            </a:r>
            <a:r>
              <a:rPr lang="pt-BR" sz="3400" dirty="0"/>
              <a:t> para garantir alta precisão e performance no processamento de imagens.</a:t>
            </a:r>
          </a:p>
          <a:p>
            <a:pPr marL="571500" lvl="0" indent="-571500" algn="just">
              <a:buFont typeface="Arial" panose="020B0604020202020204" pitchFamily="34" charset="0"/>
              <a:buChar char="•"/>
            </a:pPr>
            <a:endParaRPr lang="pt-BR" sz="3400" dirty="0"/>
          </a:p>
          <a:p>
            <a:pPr marL="571500" lvl="0" indent="-571500" algn="just">
              <a:buFont typeface="Arial" panose="020B0604020202020204" pitchFamily="34" charset="0"/>
              <a:buChar char="•"/>
            </a:pPr>
            <a:r>
              <a:rPr lang="pt-BR" sz="3400" b="1" dirty="0"/>
              <a:t>Arquitetura Full Stack Híbrida:</a:t>
            </a:r>
            <a:r>
              <a:rPr lang="pt-BR" sz="3400" dirty="0"/>
              <a:t> Integração robusta entre um Front-</a:t>
            </a:r>
            <a:r>
              <a:rPr lang="pt-BR" sz="3400" dirty="0" err="1"/>
              <a:t>end</a:t>
            </a:r>
            <a:r>
              <a:rPr lang="pt-BR" sz="3400" dirty="0"/>
              <a:t> desenvolvido em </a:t>
            </a:r>
            <a:r>
              <a:rPr lang="pt-BR" sz="3400" b="1" dirty="0" err="1"/>
              <a:t>Flutter</a:t>
            </a:r>
            <a:r>
              <a:rPr lang="pt-BR" sz="3400" b="1" dirty="0"/>
              <a:t>/Dart</a:t>
            </a:r>
            <a:r>
              <a:rPr lang="pt-BR" sz="3400" dirty="0"/>
              <a:t> para uma experiência multiplataforma (Web e Mobile) de alta performance e um Back-</a:t>
            </a:r>
            <a:r>
              <a:rPr lang="pt-BR" sz="3400" dirty="0" err="1"/>
              <a:t>end</a:t>
            </a:r>
            <a:r>
              <a:rPr lang="pt-BR" sz="3400" dirty="0"/>
              <a:t> escalável em </a:t>
            </a:r>
            <a:r>
              <a:rPr lang="pt-BR" sz="3400" b="1" dirty="0"/>
              <a:t>Python</a:t>
            </a:r>
            <a:r>
              <a:rPr lang="pt-BR" sz="3400" dirty="0"/>
              <a:t>. Essa estrutura permite o processamento ágil de dados e uma comunicação fluida.</a:t>
            </a:r>
          </a:p>
          <a:p>
            <a:pPr marL="571500" lvl="0" indent="-571500" algn="just">
              <a:buFont typeface="Arial" panose="020B0604020202020204" pitchFamily="34" charset="0"/>
              <a:buChar char="•"/>
            </a:pPr>
            <a:endParaRPr lang="pt-BR" sz="3400" dirty="0"/>
          </a:p>
          <a:p>
            <a:pPr marL="571500" lvl="0" indent="-571500" algn="just">
              <a:buFont typeface="Arial" panose="020B0604020202020204" pitchFamily="34" charset="0"/>
              <a:buChar char="•"/>
            </a:pPr>
            <a:r>
              <a:rPr lang="pt-BR" sz="3400" b="1" dirty="0"/>
              <a:t>Infraestrutura &amp; Dados:</a:t>
            </a:r>
            <a:r>
              <a:rPr lang="pt-BR" sz="3400" dirty="0"/>
              <a:t> Gestão de dados robusta com </a:t>
            </a:r>
            <a:r>
              <a:rPr lang="pt-BR" sz="3400" b="1" dirty="0"/>
              <a:t>PostgreSQL</a:t>
            </a:r>
            <a:r>
              <a:rPr lang="pt-BR" sz="3400" dirty="0"/>
              <a:t> e hospedagem em nuvem via </a:t>
            </a:r>
            <a:r>
              <a:rPr lang="pt-BR" sz="3400" b="1" dirty="0"/>
              <a:t>AWS</a:t>
            </a:r>
            <a:r>
              <a:rPr lang="pt-BR" sz="3400" dirty="0"/>
              <a:t>, garantindo escalabilidade, segurança de nível corporativo e alta disponibilidade para o sistema.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373257" y="10439205"/>
            <a:ext cx="12562767" cy="7876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lvl="0" indent="-5715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pt-BR" sz="3400" b="1" dirty="0"/>
              <a:t>Barreira Financeira:</a:t>
            </a:r>
            <a:r>
              <a:rPr lang="pt-BR" altLang="pt-BR" sz="3400" dirty="0"/>
              <a:t> O acesso as t</a:t>
            </a:r>
            <a:r>
              <a:rPr lang="pt-BR" sz="3400" dirty="0"/>
              <a:t>ecnologias avançadas de gestão e hardware de leitura são</a:t>
            </a:r>
            <a:r>
              <a:rPr lang="pt-BR" altLang="pt-BR" sz="3400" dirty="0"/>
              <a:t> restritos as grandes corporações, criando um cenário de exclusão para pequenos empreendedores e projetos sociais devido aos altos custos de implementação.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t-BR" altLang="pt-BR" sz="3400" dirty="0"/>
          </a:p>
          <a:p>
            <a:pPr marL="571500" lvl="0" indent="-5715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pt-BR" sz="3400" b="1" dirty="0"/>
              <a:t>Ineficiência Operacional:</a:t>
            </a:r>
            <a:r>
              <a:rPr lang="pt-BR" altLang="pt-BR" sz="3400" dirty="0"/>
              <a:t> A dependência de processos manuais e analógicos para a contagem de itens torna a operação lenta e vulnerável a erros humanos, o que compromete a precisão do inventário e a confiabilidade dos dados.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t-BR" altLang="pt-BR" sz="3400" dirty="0"/>
          </a:p>
          <a:p>
            <a:pPr marL="571500" lvl="0" indent="-5715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pt-BR" sz="3400" b="1" dirty="0"/>
              <a:t>Defasagem Tecnológica:</a:t>
            </a:r>
            <a:r>
              <a:rPr lang="pt-BR" altLang="pt-BR" sz="3400" dirty="0"/>
              <a:t> A falta de automação acessível força </a:t>
            </a:r>
            <a:r>
              <a:rPr lang="pt-BR" altLang="pt-BR" sz="3400" dirty="0" err="1"/>
              <a:t>micro-negócios</a:t>
            </a:r>
            <a:r>
              <a:rPr lang="pt-BR" altLang="pt-BR" sz="3400" dirty="0"/>
              <a:t> e ONGs a utilizarem ferramentas obsoletas, resultando em uma perda significativa de eficiência logística e competitividade.</a:t>
            </a:r>
          </a:p>
          <a:p>
            <a:r>
              <a:rPr lang="pt-BR" dirty="0"/>
              <a:t> </a:t>
            </a:r>
            <a:br>
              <a:rPr lang="pt-BR" sz="3200" dirty="0"/>
            </a:br>
            <a:endParaRPr lang="en-US" sz="3430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1373256" y="20030296"/>
            <a:ext cx="12562727" cy="83715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lvl="0" indent="-571500" algn="just">
              <a:buFont typeface="Arial" panose="020B0604020202020204" pitchFamily="34" charset="0"/>
              <a:buChar char="•"/>
            </a:pPr>
            <a:r>
              <a:rPr lang="pt-BR" sz="3400" b="1" dirty="0"/>
              <a:t>Democratização Tecnológica:</a:t>
            </a:r>
            <a:r>
              <a:rPr lang="pt-BR" sz="3400" dirty="0"/>
              <a:t> O </a:t>
            </a:r>
            <a:r>
              <a:rPr lang="pt-BR" sz="3400" b="1" dirty="0"/>
              <a:t>Scanner AI</a:t>
            </a:r>
            <a:r>
              <a:rPr lang="pt-BR" sz="3400" dirty="0"/>
              <a:t> democratiza o acesso à Inteligência Artificial para pequenos empreendedores. Ao oferecer Visão Computacional de baixo custo, a ferramenta nivela o mercado e permite que pequenos negócios compitam em pé de igualdade com grandes corporações.</a:t>
            </a:r>
          </a:p>
          <a:p>
            <a:pPr marL="571500" lvl="0" indent="-571500" algn="just">
              <a:buFont typeface="Arial" panose="020B0604020202020204" pitchFamily="34" charset="0"/>
              <a:buChar char="•"/>
            </a:pPr>
            <a:endParaRPr lang="pt-BR" sz="3400" dirty="0"/>
          </a:p>
          <a:p>
            <a:pPr marL="571500" lvl="0" indent="-571500" algn="just">
              <a:buFont typeface="Arial" panose="020B0604020202020204" pitchFamily="34" charset="0"/>
              <a:buChar char="•"/>
            </a:pPr>
            <a:r>
              <a:rPr lang="pt-BR" sz="3400" b="1" dirty="0"/>
              <a:t>Gestão Inteligente e Acessível:</a:t>
            </a:r>
            <a:r>
              <a:rPr lang="pt-BR" sz="3400" dirty="0"/>
              <a:t> Através de uma interface web intuitiva, o sistema utiliza webcams comuns para identificar itens. Essa tecnologia alimenta automaticamente dashboards em tempo real, permitindo que o gestor monitore o fluxo dos registros no exato momento em que ocorre.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t-BR" altLang="pt-BR" sz="3400" dirty="0"/>
          </a:p>
          <a:p>
            <a:pPr marL="571500" lvl="0" indent="-571500" algn="just">
              <a:buFont typeface="Arial" panose="020B0604020202020204" pitchFamily="34" charset="0"/>
              <a:buChar char="•"/>
            </a:pPr>
            <a:r>
              <a:rPr lang="pt-BR" sz="3400" b="1" dirty="0"/>
              <a:t>Validação Social:</a:t>
            </a:r>
            <a:r>
              <a:rPr lang="pt-BR" sz="3400" dirty="0"/>
              <a:t> Testada e aprovada no projeto </a:t>
            </a:r>
            <a:r>
              <a:rPr lang="pt-BR" sz="3400" b="1" dirty="0"/>
              <a:t>"Lideranças Empáticas"</a:t>
            </a:r>
            <a:r>
              <a:rPr lang="pt-BR" sz="3400" dirty="0"/>
              <a:t>, a ferramenta demonstra versatilidade tanto em projetos solidários quanto em </a:t>
            </a:r>
            <a:r>
              <a:rPr lang="pt-BR" sz="3400" dirty="0" err="1"/>
              <a:t>micro-negócios</a:t>
            </a:r>
            <a:r>
              <a:rPr lang="pt-BR" sz="3400" dirty="0"/>
              <a:t> que buscam realizar a transição da contagem manual para a automação digital.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36933" y="39681833"/>
            <a:ext cx="28242690" cy="1712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7"/>
              </a:lnSpc>
            </a:pPr>
            <a:r>
              <a:rPr lang="en-US" sz="4955" b="1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IV SEMANA FECAP DE TECNOLOGIA - 2026</a:t>
            </a:r>
          </a:p>
          <a:p>
            <a:pPr algn="ctr">
              <a:lnSpc>
                <a:spcPts val="6937"/>
              </a:lnSpc>
              <a:spcBef>
                <a:spcPct val="0"/>
              </a:spcBef>
            </a:pPr>
            <a:r>
              <a:rPr lang="en-US" sz="4955" dirty="0" err="1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Fundação</a:t>
            </a:r>
            <a:r>
              <a:rPr lang="en-US" sz="4955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Escola de Comércio Álvares Penteado - FECAP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5887798" y="10367334"/>
            <a:ext cx="11904157" cy="68018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pt-BR" sz="3400" b="1" dirty="0"/>
              <a:t>Acurácia e Treinamento Especializado:</a:t>
            </a:r>
            <a:r>
              <a:rPr lang="pt-BR" sz="3400" dirty="0"/>
              <a:t> O modelo de visão computacional alcançou altos índices de assertividade na identificação de itens, garantindo confiabilidade no processamento de dados.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3400" b="1" dirty="0"/>
              <a:t>Monitoramento de Metas e Performance:</a:t>
            </a:r>
            <a:r>
              <a:rPr lang="pt-BR" sz="3400" dirty="0"/>
              <a:t> Com dashboards nativos, o gestor acompanha em tempo real o progresso em relação às metas de arrecadação das equipes e também o progresso geral, transformando dados brutos em indicadores visuais de produtividade.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3400" b="1" dirty="0"/>
              <a:t>Inovação Acessível:</a:t>
            </a:r>
            <a:r>
              <a:rPr lang="pt-BR" sz="3400" dirty="0"/>
              <a:t> Ao utilizar webcams e dispositivos comuns, o </a:t>
            </a:r>
            <a:r>
              <a:rPr lang="pt-BR" sz="3400" b="1" dirty="0"/>
              <a:t>Scanner AI</a:t>
            </a:r>
            <a:r>
              <a:rPr lang="pt-BR" sz="3400" dirty="0"/>
              <a:t> democratiza a digitalização de estoques, oferecendo uma solução robusta hospedada em nuvem para substituir definitivamente processos manuais e lentos.</a:t>
            </a:r>
          </a:p>
        </p:txBody>
      </p:sp>
      <p:pic>
        <p:nvPicPr>
          <p:cNvPr id="77" name="Imagem 76">
            <a:extLst>
              <a:ext uri="{FF2B5EF4-FFF2-40B4-BE49-F238E27FC236}">
                <a16:creationId xmlns:a16="http://schemas.microsoft.com/office/drawing/2014/main" id="{797FA063-5CE0-8B66-1176-D2305B13A7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39317" y="24007042"/>
            <a:ext cx="12028451" cy="5903333"/>
          </a:xfrm>
          <a:prstGeom prst="rect">
            <a:avLst/>
          </a:prstGeom>
        </p:spPr>
      </p:pic>
      <p:pic>
        <p:nvPicPr>
          <p:cNvPr id="79" name="Imagem 78">
            <a:extLst>
              <a:ext uri="{FF2B5EF4-FFF2-40B4-BE49-F238E27FC236}">
                <a16:creationId xmlns:a16="http://schemas.microsoft.com/office/drawing/2014/main" id="{6C630F5E-5411-35C9-930F-6CB3D19C6C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32020" y="17875245"/>
            <a:ext cx="12238033" cy="5368356"/>
          </a:xfrm>
          <a:prstGeom prst="rect">
            <a:avLst/>
          </a:prstGeom>
        </p:spPr>
      </p:pic>
      <p:sp>
        <p:nvSpPr>
          <p:cNvPr id="80" name="TextBox 46">
            <a:extLst>
              <a:ext uri="{FF2B5EF4-FFF2-40B4-BE49-F238E27FC236}">
                <a16:creationId xmlns:a16="http://schemas.microsoft.com/office/drawing/2014/main" id="{38335E94-BC04-B94E-19EC-EBA3921776F8}"/>
              </a:ext>
            </a:extLst>
          </p:cNvPr>
          <p:cNvSpPr txBox="1"/>
          <p:nvPr/>
        </p:nvSpPr>
        <p:spPr>
          <a:xfrm>
            <a:off x="15494799" y="23467572"/>
            <a:ext cx="12433206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3430" spc="130" dirty="0" err="1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Gráfico</a:t>
            </a:r>
            <a:r>
              <a:rPr lang="en-US" sz="3430" spc="130" dirty="0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 02: Dashboard</a:t>
            </a:r>
          </a:p>
        </p:txBody>
      </p:sp>
      <p:sp>
        <p:nvSpPr>
          <p:cNvPr id="81" name="TextBox 46">
            <a:extLst>
              <a:ext uri="{FF2B5EF4-FFF2-40B4-BE49-F238E27FC236}">
                <a16:creationId xmlns:a16="http://schemas.microsoft.com/office/drawing/2014/main" id="{178EB014-7F46-21E5-54A4-3330C4BD5A30}"/>
              </a:ext>
            </a:extLst>
          </p:cNvPr>
          <p:cNvSpPr txBox="1"/>
          <p:nvPr/>
        </p:nvSpPr>
        <p:spPr>
          <a:xfrm>
            <a:off x="15839317" y="30087839"/>
            <a:ext cx="12433206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3430" spc="130" dirty="0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Fonte: </a:t>
            </a:r>
            <a:r>
              <a:rPr lang="en-US" sz="3430" spc="130" dirty="0" err="1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Autoria</a:t>
            </a:r>
            <a:r>
              <a:rPr lang="en-US" sz="3430" spc="130" dirty="0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3430" spc="130" dirty="0" err="1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Própria</a:t>
            </a:r>
            <a:r>
              <a:rPr lang="en-US" sz="3430" spc="130" dirty="0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 (2026)</a:t>
            </a:r>
          </a:p>
        </p:txBody>
      </p:sp>
      <p:pic>
        <p:nvPicPr>
          <p:cNvPr id="60" name="Imagem 59">
            <a:extLst>
              <a:ext uri="{FF2B5EF4-FFF2-40B4-BE49-F238E27FC236}">
                <a16:creationId xmlns:a16="http://schemas.microsoft.com/office/drawing/2014/main" id="{1A39633E-D2D7-A2D4-CA0E-FBE936BCC6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829630" y="36924917"/>
            <a:ext cx="2569142" cy="746588"/>
          </a:xfrm>
          <a:prstGeom prst="rect">
            <a:avLst/>
          </a:prstGeom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90896D8E-44E6-C33C-F236-6CADF8212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81133" y="36835410"/>
            <a:ext cx="3238715" cy="1093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Imagem 63">
            <a:extLst>
              <a:ext uri="{FF2B5EF4-FFF2-40B4-BE49-F238E27FC236}">
                <a16:creationId xmlns:a16="http://schemas.microsoft.com/office/drawing/2014/main" id="{BBD5DA3F-5EB3-7E00-6313-A162E274E55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62267" y="36464956"/>
            <a:ext cx="906378" cy="1328328"/>
          </a:xfrm>
          <a:prstGeom prst="rect">
            <a:avLst/>
          </a:prstGeom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8794576F-52FB-7AEA-8E41-24BC03EF51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66790" y="33923439"/>
            <a:ext cx="1156950" cy="1193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Imagem 68">
            <a:extLst>
              <a:ext uri="{FF2B5EF4-FFF2-40B4-BE49-F238E27FC236}">
                <a16:creationId xmlns:a16="http://schemas.microsoft.com/office/drawing/2014/main" id="{87B0A123-9844-089B-CC43-D5D3DCB8216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966790" y="31527850"/>
            <a:ext cx="1156950" cy="1233542"/>
          </a:xfrm>
          <a:prstGeom prst="rect">
            <a:avLst/>
          </a:prstGeom>
        </p:spPr>
      </p:pic>
      <p:sp>
        <p:nvSpPr>
          <p:cNvPr id="74" name="AutoShape 16" descr="Opencv Opencv Logo, Text, Alphabet, Symbol, Poster Transparent Png ...">
            <a:extLst>
              <a:ext uri="{FF2B5EF4-FFF2-40B4-BE49-F238E27FC236}">
                <a16:creationId xmlns:a16="http://schemas.microsoft.com/office/drawing/2014/main" id="{7C5B1A6B-D984-AD09-62B6-D3AE0DD131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247813" y="214471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78" name="Picture 18" descr="OpenCV Logo - LogoDix">
            <a:extLst>
              <a:ext uri="{FF2B5EF4-FFF2-40B4-BE49-F238E27FC236}">
                <a16:creationId xmlns:a16="http://schemas.microsoft.com/office/drawing/2014/main" id="{46E6949D-B196-64B3-7688-D40F9AC458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6887" y="32731294"/>
            <a:ext cx="1116853" cy="986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" name="Imagem 86">
            <a:extLst>
              <a:ext uri="{FF2B5EF4-FFF2-40B4-BE49-F238E27FC236}">
                <a16:creationId xmlns:a16="http://schemas.microsoft.com/office/drawing/2014/main" id="{342AB12C-4FD8-8D76-F78F-B5363E5AC82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738051" y="36980088"/>
            <a:ext cx="2034603" cy="676968"/>
          </a:xfrm>
          <a:prstGeom prst="rect">
            <a:avLst/>
          </a:prstGeom>
        </p:spPr>
      </p:pic>
      <p:pic>
        <p:nvPicPr>
          <p:cNvPr id="1044" name="Picture 20" descr="Docker Logo, symbol, meaning, history, PNG, brand">
            <a:extLst>
              <a:ext uri="{FF2B5EF4-FFF2-40B4-BE49-F238E27FC236}">
                <a16:creationId xmlns:a16="http://schemas.microsoft.com/office/drawing/2014/main" id="{93428B0B-14C6-F045-E5BE-0BD695903E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96764" y="35232387"/>
            <a:ext cx="1753543" cy="986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607</Words>
  <Application>Microsoft Office PowerPoint</Application>
  <PresentationFormat>Personalizar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Arial</vt:lpstr>
      <vt:lpstr>Open Sans 2 Bold</vt:lpstr>
      <vt:lpstr>Open Sans 2</vt:lpstr>
      <vt:lpstr>Calibri</vt:lpstr>
      <vt:lpstr>Open Sans 1 Bold</vt:lpstr>
      <vt:lpstr>Open Sans 1</vt:lpstr>
      <vt:lpstr>Office Theme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POSTER FECAP</dc:title>
  <dc:creator>leonardo santos</dc:creator>
  <cp:lastModifiedBy>Cristiane Souza</cp:lastModifiedBy>
  <cp:revision>4</cp:revision>
  <dcterms:created xsi:type="dcterms:W3CDTF">2006-08-16T00:00:00Z</dcterms:created>
  <dcterms:modified xsi:type="dcterms:W3CDTF">2026-05-04T02:34:18Z</dcterms:modified>
  <dc:identifier>DAHA7VomhzE</dc:identifier>
</cp:coreProperties>
</file>